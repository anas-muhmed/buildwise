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6217920" cy="6858000"/>
          </a:xfrm>
          <a:prstGeom prst="rect">
            <a:avLst/>
          </a:prstGeom>
          <a:gradFill>
            <a:gsLst>
              <a:gs pos="0">
                <a:srgbClr val="080D1F"/>
              </a:gs>
              <a:gs pos="100000">
                <a:srgbClr val="0B122A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0" y="6807708"/>
            <a:ext cx="12188952" cy="50292"/>
          </a:xfrm>
          <a:prstGeom prst="rect">
            <a:avLst/>
          </a:prstGeom>
          <a:gradFill>
            <a:gsLst>
              <a:gs pos="0">
                <a:srgbClr val="06B6D4"/>
              </a:gs>
              <a:gs pos="100000">
                <a:srgbClr val="1D4ED8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731520"/>
            <a:ext cx="45720" cy="5486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5800" y="8046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COMPUTER SCIENCE &amp; ENGINEERING   |   FINAL YEAR PROJECT   |   2025 - 26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5800" y="1207008"/>
            <a:ext cx="932688" cy="932688"/>
          </a:xfrm>
          <a:prstGeom prst="rect">
            <a:avLst/>
          </a:prstGeom>
          <a:solidFill>
            <a:srgbClr val="0F193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685800" y="1207008"/>
            <a:ext cx="932688" cy="932688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81740"/>
              </a:gs>
            </a:gsLst>
            <a:lin ang="81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713232" y="1280160"/>
            <a:ext cx="87782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FAFC"/>
                </a:solidFill>
              </a:rPr>
              <a:t>BW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2304288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8FAFC"/>
                </a:solidFill>
              </a:rPr>
              <a:t>BuildWise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685800" y="3236976"/>
            <a:ext cx="4572000" cy="59436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685800" y="34015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Revolutionizing System Architecture Design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" y="3840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Full-Stack System Architecture Builder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427939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An AI-powered web platform that generates intelligent software
architecture proposals and guides students through structured
design learning flows using OpenAI GPT-4.1.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800" y="5321808"/>
            <a:ext cx="1115568" cy="246888"/>
          </a:xfrm>
          <a:prstGeom prst="rect">
            <a:avLst/>
          </a:prstGeom>
          <a:solidFill>
            <a:srgbClr val="0A172C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8952" y="5340096"/>
            <a:ext cx="1024127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</a:rPr>
              <a:t>Next.js 15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057400" y="5321808"/>
            <a:ext cx="863193" cy="246888"/>
          </a:xfrm>
          <a:prstGeom prst="rect">
            <a:avLst/>
          </a:prstGeom>
          <a:solidFill>
            <a:srgbClr val="19102C"/>
          </a:solidFill>
          <a:ln w="76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30552" y="5340096"/>
            <a:ext cx="771753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</a:rPr>
              <a:t>GPT-4.1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429000" y="5321808"/>
            <a:ext cx="863193" cy="246888"/>
          </a:xfrm>
          <a:prstGeom prst="rect">
            <a:avLst/>
          </a:prstGeom>
          <a:solidFill>
            <a:srgbClr val="022117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502152" y="5340096"/>
            <a:ext cx="771753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MongoDB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800600" y="5321808"/>
            <a:ext cx="1115568" cy="246888"/>
          </a:xfrm>
          <a:prstGeom prst="rect">
            <a:avLst/>
          </a:prstGeom>
          <a:solidFill>
            <a:srgbClr val="012026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873752" y="5340096"/>
            <a:ext cx="1024127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B6D4"/>
                </a:solidFill>
              </a:rPr>
              <a:t>TypeScript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172200" y="5321808"/>
            <a:ext cx="779068" cy="246888"/>
          </a:xfrm>
          <a:prstGeom prst="rect">
            <a:avLst/>
          </a:prstGeom>
          <a:solidFill>
            <a:srgbClr val="111D2D"/>
          </a:solidFill>
          <a:ln w="762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245352" y="5340096"/>
            <a:ext cx="6876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A5FA"/>
                </a:solidFill>
              </a:rPr>
              <a:t>Vercel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903720" y="1005840"/>
            <a:ext cx="4846320" cy="5120640"/>
          </a:xfrm>
          <a:prstGeom prst="rect">
            <a:avLst/>
          </a:prstGeom>
          <a:solidFill>
            <a:srgbClr val="0F1937"/>
          </a:solidFill>
          <a:ln w="889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6903720" y="1005840"/>
            <a:ext cx="4846320" cy="59436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7114032" y="11155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</a:rPr>
              <a:t>PROJECT DETAILS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903720" y="1536192"/>
            <a:ext cx="4846320" cy="521207"/>
          </a:xfrm>
          <a:prstGeom prst="rect">
            <a:avLst/>
          </a:prstGeom>
          <a:solidFill>
            <a:srgbClr val="0B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059168" y="16550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Category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41664" y="1655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</a:rPr>
              <a:t>Web Application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903720" y="2057400"/>
            <a:ext cx="4846320" cy="521207"/>
          </a:xfrm>
          <a:prstGeom prst="rect">
            <a:avLst/>
          </a:prstGeom>
          <a:solidFill>
            <a:srgbClr val="0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059168" y="21762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AI Engine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741664" y="21762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</a:rPr>
              <a:t>OpenAI GPT-4.1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903720" y="2578608"/>
            <a:ext cx="4846320" cy="521207"/>
          </a:xfrm>
          <a:prstGeom prst="rect">
            <a:avLst/>
          </a:prstGeom>
          <a:solidFill>
            <a:srgbClr val="0B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059168" y="269747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Frontend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741664" y="26974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</a:rPr>
              <a:t>Next.js 15 + React 19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903720" y="3099815"/>
            <a:ext cx="4846320" cy="521207"/>
          </a:xfrm>
          <a:prstGeom prst="rect">
            <a:avLst/>
          </a:prstGeom>
          <a:solidFill>
            <a:srgbClr val="0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059168" y="321868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Backend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741664" y="3218687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</a:rPr>
              <a:t>Node.js + API Routes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903720" y="3621024"/>
            <a:ext cx="4846320" cy="521207"/>
          </a:xfrm>
          <a:prstGeom prst="rect">
            <a:avLst/>
          </a:prstGeom>
          <a:solidFill>
            <a:srgbClr val="0B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059168" y="37398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Database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741664" y="37398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</a:rPr>
              <a:t>MongoDB + Mongoose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903720" y="4142231"/>
            <a:ext cx="4846320" cy="521207"/>
          </a:xfrm>
          <a:prstGeom prst="rect">
            <a:avLst/>
          </a:prstGeom>
          <a:solidFill>
            <a:srgbClr val="0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059168" y="426110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Auth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41664" y="426110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</a:rPr>
              <a:t>JWT + Role-Based Access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903720" y="4663440"/>
            <a:ext cx="4846320" cy="521207"/>
          </a:xfrm>
          <a:prstGeom prst="rect">
            <a:avLst/>
          </a:prstGeom>
          <a:solidFill>
            <a:srgbClr val="0B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059168" y="47823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Deployment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741664" y="47823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</a:rPr>
              <a:t>Vercel (Serverless)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903720" y="5184648"/>
            <a:ext cx="4846320" cy="521207"/>
          </a:xfrm>
          <a:prstGeom prst="rect">
            <a:avLst/>
          </a:prstGeom>
          <a:solidFill>
            <a:srgbClr val="0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059168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Team Size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741664" y="5303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FAFC"/>
                </a:solidFill>
              </a:rPr>
              <a:t>1 Developer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C1C36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Abstract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1152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Project Overview &amp; Core Objectives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444752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57200" y="1645920"/>
            <a:ext cx="11274552" cy="877824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57200" y="1645920"/>
            <a:ext cx="50292" cy="8778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21792" y="1911096"/>
            <a:ext cx="347472" cy="347472"/>
          </a:xfrm>
          <a:prstGeom prst="rect">
            <a:avLst/>
          </a:prstGeom>
          <a:solidFill>
            <a:srgbClr val="0C1C36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1792" y="19110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97280" y="170992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Platform Purpose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97280" y="2066544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BuildWise is a full-stack web application that enables CS students and developers to design, evaluate, and iterate on software architectures using real-time AI assistance.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2651760"/>
            <a:ext cx="11274552" cy="877824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57200" y="2651760"/>
            <a:ext cx="50292" cy="8778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21792" y="2916936"/>
            <a:ext cx="347472" cy="347472"/>
          </a:xfrm>
          <a:prstGeom prst="rect">
            <a:avLst/>
          </a:prstGeom>
          <a:solidFill>
            <a:srgbClr val="03281C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1792" y="29169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271576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Student Mode - Guided Learning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97280" y="3072384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A 7-step structured learning flow: Setup &gt; Define &gt; AI Reasoning &gt; Canvas &gt; Cost Analysis &gt; Team Planning &gt; Summary. Each step is scored and explained by GPT-4.1.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57200" y="3657600"/>
            <a:ext cx="11274552" cy="877824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57200" y="3657600"/>
            <a:ext cx="50292" cy="87782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1792" y="3922776"/>
            <a:ext cx="347472" cy="347472"/>
          </a:xfrm>
          <a:prstGeom prst="rect">
            <a:avLst/>
          </a:prstGeom>
          <a:solidFill>
            <a:srgbClr val="1E1436"/>
          </a:solidFill>
          <a:ln w="889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21792" y="39227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</a:rPr>
              <a:t>03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97280" y="372160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Pro Mode - AI Architecture Generation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7280" y="4078224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Users describe their project; GPT-4.1 responds with a complete architecture proposal including rationale, confidence scores, and trade-offs for every component.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4663440"/>
            <a:ext cx="11274552" cy="877824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57200" y="4663440"/>
            <a:ext cx="50292" cy="8778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21792" y="4928616"/>
            <a:ext cx="347472" cy="347472"/>
          </a:xfrm>
          <a:prstGeom prst="rect">
            <a:avLst/>
          </a:prstGeom>
          <a:solidFill>
            <a:srgbClr val="01282E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1792" y="4928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04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97280" y="472744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Admin &amp; Educator Dashboard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7280" y="5084064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Real-time monitoring of all student submissions, AI API usage, architecture quality scores, and user activity. Full role-based access for teachers and administrators.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7200" y="5669280"/>
            <a:ext cx="11274552" cy="877824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57200" y="5669280"/>
            <a:ext cx="50292" cy="8778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21792" y="5934456"/>
            <a:ext cx="347472" cy="347472"/>
          </a:xfrm>
          <a:prstGeom prst="rect">
            <a:avLst/>
          </a:prstGeom>
          <a:solidFill>
            <a:srgbClr val="352202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21792" y="59344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05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7280" y="573328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Production-Grade Tech Stack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97280" y="6089904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Next.js 15, React 19, TypeScript, Tailwind CSS, MongoDB, OpenAI GPT-4.1, JWT Authentication, Vercel deployment - complete serverless architecture.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C1C36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System Specification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1152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Hardware &amp; Software Requirements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444752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57200" y="1572768"/>
            <a:ext cx="5486400" cy="384048"/>
          </a:xfrm>
          <a:prstGeom prst="rect">
            <a:avLst/>
          </a:prstGeom>
          <a:solidFill>
            <a:srgbClr val="142246"/>
          </a:solidFill>
          <a:ln w="635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57200" y="1572768"/>
            <a:ext cx="4572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0080" y="16550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0A5FA"/>
                </a:solidFill>
              </a:rPr>
              <a:t>HARDWARE  REQUIREMENTS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1956816"/>
            <a:ext cx="5486400" cy="658368"/>
          </a:xfrm>
          <a:prstGeom prst="rect">
            <a:avLst/>
          </a:prstGeom>
          <a:solidFill>
            <a:srgbClr val="0B122A"/>
          </a:solidFill>
          <a:ln w="508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4360" y="2084832"/>
            <a:ext cx="347472" cy="347472"/>
          </a:xfrm>
          <a:prstGeom prst="rect">
            <a:avLst/>
          </a:prstGeom>
          <a:solidFill>
            <a:srgbClr val="0B1A31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97280" y="20299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Processor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7280" y="22860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Intel Core i3 or above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2615184"/>
            <a:ext cx="5486400" cy="658368"/>
          </a:xfrm>
          <a:prstGeom prst="rect">
            <a:avLst/>
          </a:prstGeom>
          <a:solidFill>
            <a:srgbClr val="0F1937"/>
          </a:solidFill>
          <a:ln w="508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94360" y="2743200"/>
            <a:ext cx="347472" cy="347472"/>
          </a:xfrm>
          <a:prstGeom prst="rect">
            <a:avLst/>
          </a:prstGeom>
          <a:solidFill>
            <a:srgbClr val="0B1A31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97280" y="26883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RAM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29443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4 GB or above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3273552"/>
            <a:ext cx="5486400" cy="658368"/>
          </a:xfrm>
          <a:prstGeom prst="rect">
            <a:avLst/>
          </a:prstGeom>
          <a:solidFill>
            <a:srgbClr val="0B122A"/>
          </a:solidFill>
          <a:ln w="508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4360" y="3401568"/>
            <a:ext cx="347472" cy="347472"/>
          </a:xfrm>
          <a:prstGeom prst="rect">
            <a:avLst/>
          </a:prstGeom>
          <a:solidFill>
            <a:srgbClr val="0B1A31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97280" y="33467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Storage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97280" y="36027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512 GB SSD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3931920"/>
            <a:ext cx="5486400" cy="658368"/>
          </a:xfrm>
          <a:prstGeom prst="rect">
            <a:avLst/>
          </a:prstGeom>
          <a:solidFill>
            <a:srgbClr val="0F1937"/>
          </a:solidFill>
          <a:ln w="508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94360" y="4059936"/>
            <a:ext cx="347472" cy="347472"/>
          </a:xfrm>
          <a:prstGeom prst="rect">
            <a:avLst/>
          </a:prstGeom>
          <a:solidFill>
            <a:srgbClr val="0B1A31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97280" y="40050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Display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97280" y="42611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Standard Monitor (1366x768+)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4590288"/>
            <a:ext cx="5486400" cy="658368"/>
          </a:xfrm>
          <a:prstGeom prst="rect">
            <a:avLst/>
          </a:prstGeom>
          <a:solidFill>
            <a:srgbClr val="0B122A"/>
          </a:solidFill>
          <a:ln w="508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94360" y="4718303"/>
            <a:ext cx="347472" cy="347472"/>
          </a:xfrm>
          <a:prstGeom prst="rect">
            <a:avLst/>
          </a:prstGeom>
          <a:solidFill>
            <a:srgbClr val="0B1A31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97280" y="46634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Input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97280" y="4919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Standard Keyboard &amp; Mouse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57200" y="5248656"/>
            <a:ext cx="5486400" cy="658368"/>
          </a:xfrm>
          <a:prstGeom prst="rect">
            <a:avLst/>
          </a:prstGeom>
          <a:solidFill>
            <a:srgbClr val="0F1937"/>
          </a:solidFill>
          <a:ln w="508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94360" y="5376672"/>
            <a:ext cx="347472" cy="347472"/>
          </a:xfrm>
          <a:prstGeom prst="rect">
            <a:avLst/>
          </a:prstGeom>
          <a:solidFill>
            <a:srgbClr val="0B1A31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97280" y="53218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Network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97280" y="55778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Internet connection required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245352" y="1572768"/>
            <a:ext cx="5486400" cy="384048"/>
          </a:xfrm>
          <a:prstGeom prst="rect">
            <a:avLst/>
          </a:prstGeom>
          <a:solidFill>
            <a:srgbClr val="142246"/>
          </a:solidFill>
          <a:ln w="635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245352" y="1572768"/>
            <a:ext cx="4572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28232" y="16550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B6D4"/>
                </a:solidFill>
              </a:rPr>
              <a:t>SOFTWARE  REQUIREMENTS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45352" y="1956816"/>
            <a:ext cx="5486400" cy="658368"/>
          </a:xfrm>
          <a:prstGeom prst="rect">
            <a:avLst/>
          </a:prstGeom>
          <a:solidFill>
            <a:srgbClr val="0B122A"/>
          </a:solidFill>
          <a:ln w="508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382512" y="2084832"/>
            <a:ext cx="347472" cy="347472"/>
          </a:xfrm>
          <a:prstGeom prst="rect">
            <a:avLst/>
          </a:prstGeom>
          <a:solidFill>
            <a:srgbClr val="01242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76288" y="20299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Framework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76288" y="22860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Next.js 15 (React App Router)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245352" y="2615184"/>
            <a:ext cx="5486400" cy="658368"/>
          </a:xfrm>
          <a:prstGeom prst="rect">
            <a:avLst/>
          </a:prstGeom>
          <a:solidFill>
            <a:srgbClr val="0F1937"/>
          </a:solidFill>
          <a:ln w="508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382512" y="2743200"/>
            <a:ext cx="347472" cy="347472"/>
          </a:xfrm>
          <a:prstGeom prst="rect">
            <a:avLst/>
          </a:prstGeom>
          <a:solidFill>
            <a:srgbClr val="01242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876288" y="26883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Language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876288" y="29443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TypeScript 5.x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245352" y="3273552"/>
            <a:ext cx="5486400" cy="658368"/>
          </a:xfrm>
          <a:prstGeom prst="rect">
            <a:avLst/>
          </a:prstGeom>
          <a:solidFill>
            <a:srgbClr val="0B122A"/>
          </a:solidFill>
          <a:ln w="508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382512" y="3401568"/>
            <a:ext cx="347472" cy="347472"/>
          </a:xfrm>
          <a:prstGeom prst="rect">
            <a:avLst/>
          </a:prstGeom>
          <a:solidFill>
            <a:srgbClr val="01242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876288" y="33467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Styling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76288" y="36027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Tailwind CSS 3.x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245352" y="3931920"/>
            <a:ext cx="5486400" cy="658368"/>
          </a:xfrm>
          <a:prstGeom prst="rect">
            <a:avLst/>
          </a:prstGeom>
          <a:solidFill>
            <a:srgbClr val="0F1937"/>
          </a:solidFill>
          <a:ln w="508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382512" y="4059936"/>
            <a:ext cx="347472" cy="347472"/>
          </a:xfrm>
          <a:prstGeom prst="rect">
            <a:avLst/>
          </a:prstGeom>
          <a:solidFill>
            <a:srgbClr val="01242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876288" y="40050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Database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876288" y="42611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MongoDB 6.x  +  Mongoose ORM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245352" y="4590288"/>
            <a:ext cx="5486400" cy="658368"/>
          </a:xfrm>
          <a:prstGeom prst="rect">
            <a:avLst/>
          </a:prstGeom>
          <a:solidFill>
            <a:srgbClr val="0B122A"/>
          </a:solidFill>
          <a:ln w="508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382512" y="4718303"/>
            <a:ext cx="347472" cy="347472"/>
          </a:xfrm>
          <a:prstGeom prst="rect">
            <a:avLst/>
          </a:prstGeom>
          <a:solidFill>
            <a:srgbClr val="01242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876288" y="46634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 Provider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876288" y="4919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OpenAI GPT-4.1 API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245352" y="5248656"/>
            <a:ext cx="5486400" cy="658368"/>
          </a:xfrm>
          <a:prstGeom prst="rect">
            <a:avLst/>
          </a:prstGeom>
          <a:solidFill>
            <a:srgbClr val="0F1937"/>
          </a:solidFill>
          <a:ln w="508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82512" y="5376672"/>
            <a:ext cx="347472" cy="347472"/>
          </a:xfrm>
          <a:prstGeom prst="rect">
            <a:avLst/>
          </a:prstGeom>
          <a:solidFill>
            <a:srgbClr val="01242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876288" y="53218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Runtime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876288" y="55778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</a:rPr>
              <a:t>Node.js v20 LTS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971032" y="1572768"/>
            <a:ext cx="18288" cy="5212080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C1C36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Existing System vs Proposed System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152144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411480" y="1280160"/>
            <a:ext cx="5623560" cy="420624"/>
          </a:xfrm>
          <a:prstGeom prst="rect">
            <a:avLst/>
          </a:prstGeom>
          <a:solidFill>
            <a:srgbClr val="2B0C0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11480" y="1280160"/>
            <a:ext cx="50292" cy="4206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76072" y="1371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F4444"/>
                </a:solidFill>
              </a:rPr>
              <a:t>EXISTING SYSTEM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1480" y="1792224"/>
            <a:ext cx="5623560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11480" y="1792224"/>
            <a:ext cx="50292" cy="8961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39496" y="2066543"/>
            <a:ext cx="292608" cy="292608"/>
          </a:xfrm>
          <a:prstGeom prst="rect">
            <a:avLst/>
          </a:prstGeom>
          <a:solidFill>
            <a:srgbClr val="3B1111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9496" y="2066543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</a:rP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0120" y="1901952"/>
            <a:ext cx="49560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Students design architectures manually on paper or whiteboards with no digital tooling.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1480" y="2816352"/>
            <a:ext cx="5623560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11480" y="2816352"/>
            <a:ext cx="50292" cy="8961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39496" y="3090672"/>
            <a:ext cx="292608" cy="292608"/>
          </a:xfrm>
          <a:prstGeom prst="rect">
            <a:avLst/>
          </a:prstGeom>
          <a:solidFill>
            <a:srgbClr val="3B1111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39496" y="30906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</a:rP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0120" y="2926080"/>
            <a:ext cx="49560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No AI assistance or automated, validation of design quality or completeness.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11480" y="3840480"/>
            <a:ext cx="5623560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11480" y="3840480"/>
            <a:ext cx="50292" cy="8961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39496" y="4114800"/>
            <a:ext cx="292608" cy="292608"/>
          </a:xfrm>
          <a:prstGeom prst="rect">
            <a:avLst/>
          </a:prstGeom>
          <a:solidFill>
            <a:srgbClr val="3B1111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39496" y="4114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60120" y="3950208"/>
            <a:ext cx="49560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No structured learning path - beginners receive no step-by-step guidance.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11480" y="4864608"/>
            <a:ext cx="5623560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11480" y="4864608"/>
            <a:ext cx="50292" cy="8961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39496" y="5138928"/>
            <a:ext cx="292608" cy="292608"/>
          </a:xfrm>
          <a:prstGeom prst="rect">
            <a:avLst/>
          </a:prstGeom>
          <a:solidFill>
            <a:srgbClr val="3B1111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39496" y="51389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</a:rPr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60120" y="4974336"/>
            <a:ext cx="49560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Architecture decisions are subjective, inconsistent, and impossible to track.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11480" y="5888736"/>
            <a:ext cx="5623560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1480" y="5888736"/>
            <a:ext cx="50292" cy="8961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39496" y="6163056"/>
            <a:ext cx="292608" cy="292608"/>
          </a:xfrm>
          <a:prstGeom prst="rect">
            <a:avLst/>
          </a:prstGeom>
          <a:solidFill>
            <a:srgbClr val="3B1111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39496" y="616305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</a:rPr>
              <a:t>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60120" y="5998464"/>
            <a:ext cx="49560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Educators have no visibility into student progress or submission quality.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446520" y="1280160"/>
            <a:ext cx="5623560" cy="420624"/>
          </a:xfrm>
          <a:prstGeom prst="rect">
            <a:avLst/>
          </a:prstGeom>
          <a:solidFill>
            <a:srgbClr val="0221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446520" y="1280160"/>
            <a:ext cx="50292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611112" y="1371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</a:rPr>
              <a:t>PROPOSED : BuildWise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446520" y="1792224"/>
            <a:ext cx="5623560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446520" y="1792224"/>
            <a:ext cx="50292" cy="8961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574536" y="2066543"/>
            <a:ext cx="292608" cy="292608"/>
          </a:xfrm>
          <a:prstGeom prst="rect">
            <a:avLst/>
          </a:prstGeom>
          <a:solidFill>
            <a:srgbClr val="042E20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574536" y="2066543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995159" y="1901952"/>
            <a:ext cx="49560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GPT-4.1 auto-generates complete architecture proposals from requirements in seconds.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446520" y="2816352"/>
            <a:ext cx="5623560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446520" y="2816352"/>
            <a:ext cx="50292" cy="8961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574536" y="3090672"/>
            <a:ext cx="292608" cy="292608"/>
          </a:xfrm>
          <a:prstGeom prst="rect">
            <a:avLst/>
          </a:prstGeom>
          <a:solidFill>
            <a:srgbClr val="042E20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74536" y="30906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995159" y="2926080"/>
            <a:ext cx="49560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7-step guided Student Mode provides AI-scored, explained learning at each stage.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446520" y="3840480"/>
            <a:ext cx="5623560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446520" y="3840480"/>
            <a:ext cx="50292" cy="8961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574536" y="4114800"/>
            <a:ext cx="292608" cy="292608"/>
          </a:xfrm>
          <a:prstGeom prst="rect">
            <a:avLst/>
          </a:prstGeom>
          <a:solidFill>
            <a:srgbClr val="042E20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574536" y="4114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995159" y="3950208"/>
            <a:ext cx="49560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Architecture quality is calculated, benchmarked, and explained per component.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46520" y="4864608"/>
            <a:ext cx="5623560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446520" y="4864608"/>
            <a:ext cx="50292" cy="8961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574536" y="5138928"/>
            <a:ext cx="292608" cy="292608"/>
          </a:xfrm>
          <a:prstGeom prst="rect">
            <a:avLst/>
          </a:prstGeom>
          <a:solidFill>
            <a:srgbClr val="042E20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574536" y="51389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995159" y="4974336"/>
            <a:ext cx="49560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Snapshot versioning records every architecture state for comparison and rollback.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446520" y="5888736"/>
            <a:ext cx="5623560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446520" y="5888736"/>
            <a:ext cx="50292" cy="8961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574536" y="6163056"/>
            <a:ext cx="292608" cy="292608"/>
          </a:xfrm>
          <a:prstGeom prst="rect">
            <a:avLst/>
          </a:prstGeom>
          <a:solidFill>
            <a:srgbClr val="042E20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574536" y="616305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995159" y="5998464"/>
            <a:ext cx="49560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Admin dashboard gives educators real-time visibility into all student submissions.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760720" y="3675887"/>
            <a:ext cx="658368" cy="658368"/>
          </a:xfrm>
          <a:prstGeom prst="rect">
            <a:avLst/>
          </a:prstGeom>
          <a:solidFill>
            <a:srgbClr val="1422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760720" y="3730752"/>
            <a:ext cx="658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VS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C1C36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Module Description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1152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Five Core Functional Modules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444752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57200" y="1609344"/>
            <a:ext cx="11274552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57200" y="1609344"/>
            <a:ext cx="1005840" cy="896112"/>
          </a:xfrm>
          <a:prstGeom prst="rect">
            <a:avLst/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1609344"/>
            <a:ext cx="1005840" cy="896112"/>
          </a:xfrm>
          <a:prstGeom prst="rect">
            <a:avLst/>
          </a:prstGeom>
          <a:gradFill>
            <a:gsLst>
              <a:gs pos="0">
                <a:srgbClr val="112749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475488" y="1883664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91056" y="168249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Authentication &amp; Authorization Module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91056" y="206654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JWT-based secure login and registration with role-based access control (Student / Teacher / Admin). All routes are protected with a global auth modal for unauthenticated access attempts.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2633472"/>
            <a:ext cx="11274552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57200" y="2633472"/>
            <a:ext cx="1005840" cy="896112"/>
          </a:xfrm>
          <a:prstGeom prst="rect">
            <a:avLst/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2633472"/>
            <a:ext cx="1005840" cy="896112"/>
          </a:xfrm>
          <a:prstGeom prst="rect">
            <a:avLst/>
          </a:prstGeom>
          <a:gradFill>
            <a:gsLst>
              <a:gs pos="0">
                <a:srgbClr val="01363F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475488" y="2907792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91056" y="270662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Project &amp; Metadata Management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91056" y="309067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Create and manage AI design projects. The intake form captures app type, expected users, traffic volume, budget, and priorities. All data persisted in MongoDB via Next.js API Routes.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3657600"/>
            <a:ext cx="11274552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57200" y="3657600"/>
            <a:ext cx="1005840" cy="896112"/>
          </a:xfrm>
          <a:prstGeom prst="rect">
            <a:avLst/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3657600"/>
            <a:ext cx="1005840" cy="896112"/>
          </a:xfrm>
          <a:prstGeom prst="rect">
            <a:avLst/>
          </a:prstGeom>
          <a:gradFill>
            <a:gsLst>
              <a:gs pos="0">
                <a:srgbClr val="291B49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475488" y="3931920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</a:rPr>
              <a:t>03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91056" y="373075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Snapshot &amp; Version Control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91056" y="4114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Architecture snapshots are saved on every change. Full conflict detection, merge resolution UI, and a diff viewer showing before/after state for every version transition.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4681728"/>
            <a:ext cx="11274552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57200" y="4681728"/>
            <a:ext cx="1005840" cy="896112"/>
          </a:xfrm>
          <a:prstGeom prst="rect">
            <a:avLst/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4681728"/>
            <a:ext cx="1005840" cy="896112"/>
          </a:xfrm>
          <a:prstGeom prst="rect">
            <a:avLst/>
          </a:prstGeom>
          <a:gradFill>
            <a:gsLst>
              <a:gs pos="0">
                <a:srgbClr val="043726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475488" y="4956048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04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591056" y="4754880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AI Evaluation &amp; Generation Module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91056" y="5138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GPT-4.1 generates complete architecture proposals with component rationale, confidence scores, and trade-off analysis. Student Mode adds a hybrid rule-based + AI scoring engine.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7200" y="5705856"/>
            <a:ext cx="11274552" cy="89611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57200" y="5705856"/>
            <a:ext cx="1005840" cy="896112"/>
          </a:xfrm>
          <a:prstGeom prst="rect">
            <a:avLst/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5705856"/>
            <a:ext cx="1005840" cy="896112"/>
          </a:xfrm>
          <a:prstGeom prst="rect">
            <a:avLst/>
          </a:prstGeom>
          <a:gradFill>
            <a:gsLst>
              <a:gs pos="0">
                <a:srgbClr val="492F03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475488" y="5980176"/>
            <a:ext cx="969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05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91056" y="57790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Admin Monitoring &amp; Analytics Module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591056" y="6163056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Real-time dashboard showing all student submissions, AI API usage statistics, user role management, and per-student architecture quality score leaderboard for educators.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C1C36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05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Detailed Domain Theory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1152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Part 1  —  Generative AI &amp; Large Language Models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444752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11480" y="1572768"/>
            <a:ext cx="5669280" cy="384048"/>
          </a:xfrm>
          <a:prstGeom prst="rect">
            <a:avLst/>
          </a:prstGeom>
          <a:solidFill>
            <a:srgbClr val="0B1A31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11480" y="1572768"/>
            <a:ext cx="50292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6072" y="16550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Generative AI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1480" y="2048256"/>
            <a:ext cx="5669280" cy="841248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11480" y="2048256"/>
            <a:ext cx="50292" cy="841248"/>
          </a:xfrm>
          <a:prstGeom prst="rect">
            <a:avLst/>
          </a:prstGeom>
          <a:solidFill>
            <a:srgbClr val="1D4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39496" y="2295144"/>
            <a:ext cx="347472" cy="347472"/>
          </a:xfrm>
          <a:prstGeom prst="rect">
            <a:avLst/>
          </a:prstGeom>
          <a:solidFill>
            <a:srgbClr val="0C1C36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9496" y="22951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5840" y="2139696"/>
            <a:ext cx="49743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AI systems that produce new content (text, code, structured data) from patterns learned during training on large corpora.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11480" y="3017520"/>
            <a:ext cx="5669280" cy="841248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11480" y="3017520"/>
            <a:ext cx="50292" cy="841248"/>
          </a:xfrm>
          <a:prstGeom prst="rect">
            <a:avLst/>
          </a:prstGeom>
          <a:solidFill>
            <a:srgbClr val="1D4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39496" y="3264408"/>
            <a:ext cx="347472" cy="347472"/>
          </a:xfrm>
          <a:prstGeom prst="rect">
            <a:avLst/>
          </a:prstGeom>
          <a:solidFill>
            <a:srgbClr val="0C1C36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9496" y="32644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5840" y="3108960"/>
            <a:ext cx="49743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BuildWise uses GPT-4.1 to generate architecture decision ledgers from structured project requirement prompts.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1480" y="3986784"/>
            <a:ext cx="5669280" cy="841248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11480" y="3986784"/>
            <a:ext cx="50292" cy="841248"/>
          </a:xfrm>
          <a:prstGeom prst="rect">
            <a:avLst/>
          </a:prstGeom>
          <a:solidFill>
            <a:srgbClr val="1D4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39496" y="4233672"/>
            <a:ext cx="347472" cy="347472"/>
          </a:xfrm>
          <a:prstGeom prst="rect">
            <a:avLst/>
          </a:prstGeom>
          <a:solidFill>
            <a:srgbClr val="0C1C36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9496" y="42336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5840" y="4078224"/>
            <a:ext cx="49743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System prompt defines context: "You are a senior software architect. Return StackChoice[] for the given project."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11480" y="4956048"/>
            <a:ext cx="5669280" cy="841248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11480" y="4956048"/>
            <a:ext cx="50292" cy="841248"/>
          </a:xfrm>
          <a:prstGeom prst="rect">
            <a:avLst/>
          </a:prstGeom>
          <a:solidFill>
            <a:srgbClr val="1D4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39496" y="5202936"/>
            <a:ext cx="347472" cy="347472"/>
          </a:xfrm>
          <a:prstGeom prst="rect">
            <a:avLst/>
          </a:prstGeom>
          <a:solidFill>
            <a:srgbClr val="0C1C36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39496" y="52029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" y="5047488"/>
            <a:ext cx="49743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Every response includes: component, chosen technology, rationale, confidence score, and alternative options.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00800" y="1572768"/>
            <a:ext cx="5669280" cy="384048"/>
          </a:xfrm>
          <a:prstGeom prst="rect">
            <a:avLst/>
          </a:prstGeom>
          <a:solidFill>
            <a:srgbClr val="01242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400800" y="1572768"/>
            <a:ext cx="50292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565392" y="16550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Large Language Models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00800" y="2048256"/>
            <a:ext cx="5669280" cy="841248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400800" y="2048256"/>
            <a:ext cx="50292" cy="841248"/>
          </a:xfrm>
          <a:prstGeom prst="rect">
            <a:avLst/>
          </a:prstGeom>
          <a:solidFill>
            <a:srgbClr val="035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528816" y="2295144"/>
            <a:ext cx="347472" cy="347472"/>
          </a:xfrm>
          <a:prstGeom prst="rect">
            <a:avLst/>
          </a:prstGeom>
          <a:solidFill>
            <a:srgbClr val="01282E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528816" y="22951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01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995160" y="2139696"/>
            <a:ext cx="49743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Deep neural networks (billions of parameters) trained on text to predict the most probable next token in a sequence.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400800" y="3017520"/>
            <a:ext cx="5669280" cy="841248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400800" y="3017520"/>
            <a:ext cx="50292" cy="841248"/>
          </a:xfrm>
          <a:prstGeom prst="rect">
            <a:avLst/>
          </a:prstGeom>
          <a:solidFill>
            <a:srgbClr val="035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528816" y="3264408"/>
            <a:ext cx="347472" cy="347472"/>
          </a:xfrm>
          <a:prstGeom prst="rect">
            <a:avLst/>
          </a:prstGeom>
          <a:solidFill>
            <a:srgbClr val="01282E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528816" y="32644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995160" y="3108960"/>
            <a:ext cx="49743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GPT-4.1 understands cloud infrastructure patterns, software trade-offs, and engineering design principles.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00800" y="3986784"/>
            <a:ext cx="5669280" cy="841248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400800" y="3986784"/>
            <a:ext cx="50292" cy="841248"/>
          </a:xfrm>
          <a:prstGeom prst="rect">
            <a:avLst/>
          </a:prstGeom>
          <a:solidFill>
            <a:srgbClr val="035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528816" y="4233672"/>
            <a:ext cx="347472" cy="347472"/>
          </a:xfrm>
          <a:prstGeom prst="rect">
            <a:avLst/>
          </a:prstGeom>
          <a:solidFill>
            <a:srgbClr val="01282E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528816" y="42336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03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95160" y="4078224"/>
            <a:ext cx="49743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Prompted with: app type, user count, traffic estimate, budget, and feature priorities. Returns structured JSON.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400800" y="4956048"/>
            <a:ext cx="5669280" cy="841248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400800" y="4956048"/>
            <a:ext cx="50292" cy="841248"/>
          </a:xfrm>
          <a:prstGeom prst="rect">
            <a:avLst/>
          </a:prstGeom>
          <a:solidFill>
            <a:srgbClr val="035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528816" y="5202936"/>
            <a:ext cx="347472" cy="347472"/>
          </a:xfrm>
          <a:prstGeom prst="rect">
            <a:avLst/>
          </a:prstGeom>
          <a:solidFill>
            <a:srgbClr val="01282E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528816" y="52029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04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995160" y="5047488"/>
            <a:ext cx="49743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Few-shot learning: model generalises expert architect reasoning to novel requirement combinations it has not seen before.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C1C36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05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Detailed Domain Theory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1152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Part 2  —  Transformer Architecture  (Vaswani et al., 2017  -  "Attention Is All You Need")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444752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57200" y="1609344"/>
            <a:ext cx="11274552" cy="905256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57200" y="1609344"/>
            <a:ext cx="2103120" cy="905256"/>
          </a:xfrm>
          <a:prstGeom prst="rect">
            <a:avLst/>
          </a:prstGeom>
          <a:solidFill>
            <a:srgbClr val="0A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1609344"/>
            <a:ext cx="2103120" cy="905256"/>
          </a:xfrm>
          <a:prstGeom prst="rect">
            <a:avLst/>
          </a:prstGeom>
          <a:gradFill>
            <a:gsLst>
              <a:gs pos="0">
                <a:srgbClr val="102444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502920" y="1883664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</a:rPr>
              <a:t>01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97280" y="17190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</a:rPr>
              <a:t>Self-Attention Mechanism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578608" y="1920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05A"/>
                </a:solidFill>
              </a:rPr>
              <a:t>&gt;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971800" y="1719072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Each token attends to every other token in the input. This allows the model to learn that "high traffic" and "horizontal scaling" are architecturally related concepts.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2642616"/>
            <a:ext cx="11274552" cy="905256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57200" y="2642616"/>
            <a:ext cx="2103120" cy="905256"/>
          </a:xfrm>
          <a:prstGeom prst="rect">
            <a:avLst/>
          </a:prstGeom>
          <a:solidFill>
            <a:srgbClr val="01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2642616"/>
            <a:ext cx="2103120" cy="905256"/>
          </a:xfrm>
          <a:prstGeom prst="rect">
            <a:avLst/>
          </a:prstGeom>
          <a:gradFill>
            <a:gsLst>
              <a:gs pos="0">
                <a:srgbClr val="01323B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502920" y="2916936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</a:rPr>
              <a:t>02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97280" y="27523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B6D4"/>
                </a:solidFill>
              </a:rPr>
              <a:t>Multi-Head Attention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578608" y="29535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05A"/>
                </a:solidFill>
              </a:rPr>
              <a:t>&gt;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71800" y="2752344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Multiple parallel attention heads each learn different relationship types simultaneously - syntactic structure, semantic meaning, and domain-specific engineering patterns.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57200" y="3675887"/>
            <a:ext cx="11274552" cy="905256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57200" y="3675887"/>
            <a:ext cx="2103120" cy="905256"/>
          </a:xfrm>
          <a:prstGeom prst="rect">
            <a:avLst/>
          </a:prstGeom>
          <a:solidFill>
            <a:srgbClr val="19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3675887"/>
            <a:ext cx="2103120" cy="905256"/>
          </a:xfrm>
          <a:prstGeom prst="rect">
            <a:avLst/>
          </a:prstGeom>
          <a:gradFill>
            <a:gsLst>
              <a:gs pos="0">
                <a:srgbClr val="261944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502920" y="3950207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</a:rPr>
              <a:t>03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97280" y="37856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5CF6"/>
                </a:solidFill>
              </a:rPr>
              <a:t>Positional Encoding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578608" y="3986783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05A"/>
                </a:solidFill>
              </a:rPr>
              <a:t>&gt;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971800" y="3785615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Since Transformers have no recurrence, sine and cosine functions inject sequence-order information so the model preserves the positional meaning of each input token.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4709160"/>
            <a:ext cx="11274552" cy="905256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57200" y="4709160"/>
            <a:ext cx="2103120" cy="905256"/>
          </a:xfrm>
          <a:prstGeom prst="rect">
            <a:avLst/>
          </a:prstGeom>
          <a:solidFill>
            <a:srgbClr val="02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4709160"/>
            <a:ext cx="2103120" cy="905256"/>
          </a:xfrm>
          <a:prstGeom prst="rect">
            <a:avLst/>
          </a:prstGeom>
          <a:gradFill>
            <a:gsLst>
              <a:gs pos="0">
                <a:srgbClr val="043324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502920" y="4983480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</a:rPr>
              <a:t>04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97280" y="48188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Feed-Forward Sub-layers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578608" y="50200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05A"/>
                </a:solidFill>
              </a:rPr>
              <a:t>&gt;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971800" y="4818888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After each attention step, token vectors pass through position-wise fully connected feed-forward networks that add non-linear depth to the learned representations.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7200" y="5742431"/>
            <a:ext cx="11274552" cy="905256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57200" y="5742431"/>
            <a:ext cx="2103120" cy="905256"/>
          </a:xfrm>
          <a:prstGeom prst="rect">
            <a:avLst/>
          </a:prstGeom>
          <a:solidFill>
            <a:srgbClr val="2C1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5742431"/>
            <a:ext cx="2103120" cy="905256"/>
          </a:xfrm>
          <a:prstGeom prst="rect">
            <a:avLst/>
          </a:prstGeom>
          <a:gradFill>
            <a:gsLst>
              <a:gs pos="0">
                <a:srgbClr val="442C03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02920" y="6016751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</a:rPr>
              <a:t>05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97280" y="585215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Decoder-Only Stack (GPT-style)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578608" y="605332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05A"/>
                </a:solidFill>
              </a:rPr>
              <a:t>&gt;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71800" y="5852159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GPT uses a decoder-only, autoregressive architecture. It predicts one output token at a time using a causal attention mask over all preceding tokens.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C1C36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05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Detailed Domain Theory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1152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Part 3  —  Prompt Engineering &amp; Student Mode AI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444752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57200" y="15727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</a:rPr>
              <a:t>BuildWise — Prompt Engineering Pipeline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1956816"/>
            <a:ext cx="2743200" cy="2011680"/>
          </a:xfrm>
          <a:prstGeom prst="rect">
            <a:avLst/>
          </a:prstGeom>
          <a:solidFill>
            <a:srgbClr val="0A172C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1956816"/>
            <a:ext cx="2743200" cy="50292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112749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585216" y="2075688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STEP  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85216" y="2322576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</a:rPr>
              <a:t>Intake Form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5216" y="2724912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User fills project
requirements: type,
users, traffic,
budget, features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00400" y="283464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05A"/>
                </a:solidFill>
              </a:rPr>
              <a:t>&gt;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401568" y="1956816"/>
            <a:ext cx="2743200" cy="2011680"/>
          </a:xfrm>
          <a:prstGeom prst="rect">
            <a:avLst/>
          </a:prstGeom>
          <a:solidFill>
            <a:srgbClr val="19102C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3401568" y="1956816"/>
            <a:ext cx="2743200" cy="50292"/>
          </a:xfrm>
          <a:prstGeom prst="rect">
            <a:avLst/>
          </a:prstGeom>
          <a:gradFill>
            <a:gsLst>
              <a:gs pos="0">
                <a:srgbClr val="8B5CF6"/>
              </a:gs>
              <a:gs pos="100000">
                <a:srgbClr val="291B49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3529584" y="2075688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</a:rPr>
              <a:t>STEP  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29584" y="2322576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</a:rPr>
              <a:t>Prompt Build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29584" y="2724912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System role: "senior
architect". JSON
requirements appended
to context.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44768" y="283464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05A"/>
                </a:solidFill>
              </a:rPr>
              <a:t>&gt;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45936" y="1956816"/>
            <a:ext cx="2743200" cy="2011680"/>
          </a:xfrm>
          <a:prstGeom prst="rect">
            <a:avLst/>
          </a:prstGeom>
          <a:solidFill>
            <a:srgbClr val="012026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6345936" y="1956816"/>
            <a:ext cx="2743200" cy="50292"/>
          </a:xfrm>
          <a:prstGeom prst="rect">
            <a:avLst/>
          </a:prstGeom>
          <a:gradFill>
            <a:gsLst>
              <a:gs pos="0">
                <a:srgbClr val="06B6D4"/>
              </a:gs>
              <a:gs pos="100000">
                <a:srgbClr val="01363F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6473952" y="2075688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STEP  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73952" y="2322576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</a:rPr>
              <a:t>GPT-4.1  API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73952" y="2724912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Transformer model
processes all tokens
via multi-head
self-attention.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089136" y="283464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05A"/>
                </a:solidFill>
              </a:rPr>
              <a:t>&gt;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290304" y="1956816"/>
            <a:ext cx="2743200" cy="2011680"/>
          </a:xfrm>
          <a:prstGeom prst="rect">
            <a:avLst/>
          </a:prstGeom>
          <a:solidFill>
            <a:srgbClr val="022117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9290304" y="1956816"/>
            <a:ext cx="2743200" cy="50292"/>
          </a:xfrm>
          <a:prstGeom prst="rect">
            <a:avLst/>
          </a:prstGeom>
          <a:gradFill>
            <a:gsLst>
              <a:gs pos="0">
                <a:srgbClr val="10B981"/>
              </a:gs>
              <a:gs pos="100000">
                <a:srgbClr val="043726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9418320" y="2075688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STEP  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418320" y="2322576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8FAFC"/>
                </a:solidFill>
              </a:rPr>
              <a:t>Parse Response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418320" y="2724912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Returns StackChoice[]:
component, choice,
rationale, confidence,
alternatives.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4114800"/>
            <a:ext cx="11274552" cy="36576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457200" y="422452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</a:rPr>
              <a:t>AI in Student Mode  —  Hybrid Approach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590288"/>
            <a:ext cx="11274552" cy="71323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57200" y="4590288"/>
            <a:ext cx="50292" cy="7132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76656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Rule-Based Scoring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76656" y="495604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Each component placed on the canvas (CDN, Cache, Auth Service) earns a score based on engineering best practices for the given project type and constraints.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" y="5413248"/>
            <a:ext cx="11274552" cy="71323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57200" y="5413248"/>
            <a:ext cx="50292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76656" y="5486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LLM Explanations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76656" y="5779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GPT-4.1 generates a per-decision explanation teaching the student WHY that component is appropriate for their specific project context and scale.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57200" y="6236207"/>
            <a:ext cx="11274552" cy="713232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7200" y="6236207"/>
            <a:ext cx="50292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76656" y="6309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Hybrid Architecture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76656" y="66019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Deterministic rules guarantee correctness; LLM explanations guarantee learning. The combination delivers reliability AND deep conceptual understanding.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C1C36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06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Data Flow Diagram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1152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System-Level DFD  —  Level 0 &amp; Level 1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444752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57200" y="1664208"/>
            <a:ext cx="11274552" cy="4754880"/>
          </a:xfrm>
          <a:prstGeom prst="rect">
            <a:avLst/>
          </a:prstGeom>
          <a:solidFill>
            <a:srgbClr val="070F1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1664208"/>
            <a:ext cx="11274552" cy="54864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112749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402336" y="1609344"/>
            <a:ext cx="201168" cy="201168"/>
          </a:xfrm>
          <a:prstGeom prst="rect">
            <a:avLst/>
          </a:prstGeom>
          <a:solidFill>
            <a:srgbClr val="112749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210544" y="1609344"/>
            <a:ext cx="201168" cy="201168"/>
          </a:xfrm>
          <a:prstGeom prst="rect">
            <a:avLst/>
          </a:prstGeom>
          <a:solidFill>
            <a:srgbClr val="112749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02336" y="6345936"/>
            <a:ext cx="201168" cy="201168"/>
          </a:xfrm>
          <a:prstGeom prst="rect">
            <a:avLst/>
          </a:prstGeom>
          <a:solidFill>
            <a:srgbClr val="112749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210544" y="6345936"/>
            <a:ext cx="201168" cy="201168"/>
          </a:xfrm>
          <a:prstGeom prst="rect">
            <a:avLst/>
          </a:prstGeom>
          <a:solidFill>
            <a:srgbClr val="112749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358444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</a:rPr>
              <a:t>[ Insert Data Flow Diagram Image Here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437083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3A6E"/>
                </a:solidFill>
              </a:rPr>
              <a:t>Right-click &gt; Insert &gt; Picture   to place your diagram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1282E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B6D4"/>
                </a:solidFill>
              </a:rPr>
              <a:t>07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ER Diagram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1152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Entity Relationship Diagram  —  Database Structure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444752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57200" y="1664208"/>
            <a:ext cx="11274552" cy="4754880"/>
          </a:xfrm>
          <a:prstGeom prst="rect">
            <a:avLst/>
          </a:prstGeom>
          <a:solidFill>
            <a:srgbClr val="0015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1664208"/>
            <a:ext cx="11274552" cy="54864"/>
          </a:xfrm>
          <a:prstGeom prst="rect">
            <a:avLst/>
          </a:prstGeom>
          <a:gradFill>
            <a:gsLst>
              <a:gs pos="0">
                <a:srgbClr val="06B6D4"/>
              </a:gs>
              <a:gs pos="100000">
                <a:srgbClr val="01363F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402336" y="1609344"/>
            <a:ext cx="201168" cy="201168"/>
          </a:xfrm>
          <a:prstGeom prst="rect">
            <a:avLst/>
          </a:prstGeom>
          <a:solidFill>
            <a:srgbClr val="01363F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210544" y="1609344"/>
            <a:ext cx="201168" cy="201168"/>
          </a:xfrm>
          <a:prstGeom prst="rect">
            <a:avLst/>
          </a:prstGeom>
          <a:solidFill>
            <a:srgbClr val="01363F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02336" y="6345936"/>
            <a:ext cx="201168" cy="201168"/>
          </a:xfrm>
          <a:prstGeom prst="rect">
            <a:avLst/>
          </a:prstGeom>
          <a:solidFill>
            <a:srgbClr val="01363F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210544" y="6345936"/>
            <a:ext cx="201168" cy="201168"/>
          </a:xfrm>
          <a:prstGeom prst="rect">
            <a:avLst/>
          </a:prstGeom>
          <a:solidFill>
            <a:srgbClr val="01363F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358444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</a:rPr>
              <a:t>[ Insert ER Diagram Image Here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437083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2515F"/>
                </a:solidFill>
              </a:rPr>
              <a:t>Right-click &gt; Insert &gt; Picture   to place your diagram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3281C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</a:rPr>
              <a:t>08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Table Design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1152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MongoDB Collections  —  Document Schema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444752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57200" y="1664208"/>
            <a:ext cx="11274552" cy="4754880"/>
          </a:xfrm>
          <a:prstGeom prst="rect">
            <a:avLst/>
          </a:prstGeom>
          <a:solidFill>
            <a:srgbClr val="01160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1664208"/>
            <a:ext cx="11274552" cy="54864"/>
          </a:xfrm>
          <a:prstGeom prst="rect">
            <a:avLst/>
          </a:prstGeom>
          <a:gradFill>
            <a:gsLst>
              <a:gs pos="0">
                <a:srgbClr val="10B981"/>
              </a:gs>
              <a:gs pos="100000">
                <a:srgbClr val="043726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402336" y="1609344"/>
            <a:ext cx="201168" cy="201168"/>
          </a:xfrm>
          <a:prstGeom prst="rect">
            <a:avLst/>
          </a:prstGeom>
          <a:solidFill>
            <a:srgbClr val="04372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210544" y="1609344"/>
            <a:ext cx="201168" cy="201168"/>
          </a:xfrm>
          <a:prstGeom prst="rect">
            <a:avLst/>
          </a:prstGeom>
          <a:solidFill>
            <a:srgbClr val="04372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02336" y="6345936"/>
            <a:ext cx="201168" cy="201168"/>
          </a:xfrm>
          <a:prstGeom prst="rect">
            <a:avLst/>
          </a:prstGeom>
          <a:solidFill>
            <a:srgbClr val="04372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210544" y="6345936"/>
            <a:ext cx="201168" cy="201168"/>
          </a:xfrm>
          <a:prstGeom prst="rect">
            <a:avLst/>
          </a:prstGeom>
          <a:solidFill>
            <a:srgbClr val="04372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358444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</a:rPr>
              <a:t>[ Insert Table Design Image Here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437083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7533A"/>
                </a:solidFill>
              </a:rPr>
              <a:t>Right-click &gt; Insert &gt; Picture   to place your diagram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1E1436"/>
          </a:solidFill>
          <a:ln w="76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5CF6"/>
                </a:solidFill>
              </a:rPr>
              <a:t>09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Screenshots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1152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Application UI  —  Key Screens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444752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57200" y="1664208"/>
            <a:ext cx="11274552" cy="4754880"/>
          </a:xfrm>
          <a:prstGeom prst="rect">
            <a:avLst/>
          </a:prstGeom>
          <a:solidFill>
            <a:srgbClr val="100B1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1664208"/>
            <a:ext cx="11274552" cy="54864"/>
          </a:xfrm>
          <a:prstGeom prst="rect">
            <a:avLst/>
          </a:prstGeom>
          <a:gradFill>
            <a:gsLst>
              <a:gs pos="0">
                <a:srgbClr val="8B5CF6"/>
              </a:gs>
              <a:gs pos="100000">
                <a:srgbClr val="291B49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402336" y="1609344"/>
            <a:ext cx="201168" cy="201168"/>
          </a:xfrm>
          <a:prstGeom prst="rect">
            <a:avLst/>
          </a:prstGeom>
          <a:solidFill>
            <a:srgbClr val="291B49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210544" y="1609344"/>
            <a:ext cx="201168" cy="201168"/>
          </a:xfrm>
          <a:prstGeom prst="rect">
            <a:avLst/>
          </a:prstGeom>
          <a:solidFill>
            <a:srgbClr val="291B49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02336" y="6345936"/>
            <a:ext cx="201168" cy="201168"/>
          </a:xfrm>
          <a:prstGeom prst="rect">
            <a:avLst/>
          </a:prstGeom>
          <a:solidFill>
            <a:srgbClr val="291B49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210544" y="6345936"/>
            <a:ext cx="201168" cy="201168"/>
          </a:xfrm>
          <a:prstGeom prst="rect">
            <a:avLst/>
          </a:prstGeom>
          <a:solidFill>
            <a:srgbClr val="291B49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358444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</a:rPr>
              <a:t>[ Insert Screenshots Image Here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437083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E296E"/>
                </a:solidFill>
              </a:rPr>
              <a:t>Right-click &gt; Insert &gt; Picture   to place your diagram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C1C36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Future Enhancements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152144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457200" y="1353312"/>
            <a:ext cx="5577840" cy="1463040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1353312"/>
            <a:ext cx="5577840" cy="50292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112749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585216" y="1700784"/>
            <a:ext cx="402336" cy="402336"/>
          </a:xfrm>
          <a:prstGeom prst="rect">
            <a:avLst/>
          </a:prstGeom>
          <a:solidFill>
            <a:srgbClr val="0E203D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85216" y="170078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33856" y="14630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Real-Time Collaboration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33856" y="1883664"/>
            <a:ext cx="47548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Multi-user canvas editing via WebSockets + CRDT. Teams work on the same architecture diagram simultaneously.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400800" y="1353312"/>
            <a:ext cx="5577840" cy="1463040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6400800" y="1353312"/>
            <a:ext cx="5577840" cy="50292"/>
          </a:xfrm>
          <a:prstGeom prst="rect">
            <a:avLst/>
          </a:prstGeom>
          <a:gradFill>
            <a:gsLst>
              <a:gs pos="0">
                <a:srgbClr val="06B6D4"/>
              </a:gs>
              <a:gs pos="100000">
                <a:srgbClr val="01363F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6528816" y="1700784"/>
            <a:ext cx="402336" cy="402336"/>
          </a:xfrm>
          <a:prstGeom prst="rect">
            <a:avLst/>
          </a:prstGeom>
          <a:solidFill>
            <a:srgbClr val="012D35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528816" y="170078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77456" y="14630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Export to Infrastructure-as-Code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77456" y="1883664"/>
            <a:ext cx="47548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Generate production Terraform and Docker Compose files directly from the completed architecture canvas.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" y="2953512"/>
            <a:ext cx="5577840" cy="1463040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2953512"/>
            <a:ext cx="5577840" cy="50292"/>
          </a:xfrm>
          <a:prstGeom prst="rect">
            <a:avLst/>
          </a:prstGeom>
          <a:gradFill>
            <a:gsLst>
              <a:gs pos="0">
                <a:srgbClr val="8B5CF6"/>
              </a:gs>
              <a:gs pos="100000">
                <a:srgbClr val="291B49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585216" y="3300984"/>
            <a:ext cx="402336" cy="402336"/>
          </a:xfrm>
          <a:prstGeom prst="rect">
            <a:avLst/>
          </a:prstGeom>
          <a:solidFill>
            <a:srgbClr val="22173D"/>
          </a:solidFill>
          <a:ln w="889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85216" y="330098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03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33856" y="3063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AI Chatbot Assistant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6" y="3483864"/>
            <a:ext cx="47548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GPT-powered contextual chat embedded in every design session for live Q&amp;A on any architectural decision.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2953512"/>
            <a:ext cx="5577840" cy="1463040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6400800" y="2953512"/>
            <a:ext cx="5577840" cy="50292"/>
          </a:xfrm>
          <a:prstGeom prst="rect">
            <a:avLst/>
          </a:prstGeom>
          <a:gradFill>
            <a:gsLst>
              <a:gs pos="0">
                <a:srgbClr val="F59E0B"/>
              </a:gs>
              <a:gs pos="100000">
                <a:srgbClr val="492F0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6528816" y="3300984"/>
            <a:ext cx="402336" cy="402336"/>
          </a:xfrm>
          <a:prstGeom prst="rect">
            <a:avLst/>
          </a:prstGeom>
          <a:solidFill>
            <a:srgbClr val="3D2702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528816" y="330098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077456" y="3063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Gamification &amp; Leaderboard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77456" y="3483864"/>
            <a:ext cx="47548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Score-based rankings, achievement badges, and design streaks to motivate quality architecture among students.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4553712"/>
            <a:ext cx="5577840" cy="1463040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" y="4553712"/>
            <a:ext cx="5577840" cy="50292"/>
          </a:xfrm>
          <a:prstGeom prst="rect">
            <a:avLst/>
          </a:prstGeom>
          <a:gradFill>
            <a:gsLst>
              <a:gs pos="0">
                <a:srgbClr val="10B981"/>
              </a:gs>
              <a:gs pos="100000">
                <a:srgbClr val="043726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585216" y="4901184"/>
            <a:ext cx="402336" cy="402336"/>
          </a:xfrm>
          <a:prstGeom prst="rect">
            <a:avLst/>
          </a:prstGeom>
          <a:solidFill>
            <a:srgbClr val="042E2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85216" y="490118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05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33856" y="4663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React Native Mobile App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33856" y="5084064"/>
            <a:ext cx="47548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 companion app for Student Mode, enabling accessible on-the-go architecture learning and review on mobile.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00800" y="4553712"/>
            <a:ext cx="5577840" cy="1463040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6400800" y="4553712"/>
            <a:ext cx="5577840" cy="50292"/>
          </a:xfrm>
          <a:prstGeom prst="rect">
            <a:avLst/>
          </a:prstGeom>
          <a:gradFill>
            <a:gsLst>
              <a:gs pos="0">
                <a:srgbClr val="EF4444"/>
              </a:gs>
              <a:gs pos="100000">
                <a:srgbClr val="47141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6528816" y="4901184"/>
            <a:ext cx="402336" cy="402336"/>
          </a:xfrm>
          <a:prstGeom prst="rect">
            <a:avLst/>
          </a:prstGeom>
          <a:solidFill>
            <a:srgbClr val="3B1111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528816" y="490118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06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077456" y="4663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Domain-Specific LLM Fine-Tuning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077456" y="5084064"/>
            <a:ext cx="47548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Fine-tune a custom model on curated architecture decision data for deeper, more accurate domain expertise.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C1C36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11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Conclusion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152144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457200" y="1316736"/>
            <a:ext cx="11274552" cy="905256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57200" y="1316736"/>
            <a:ext cx="640080" cy="905256"/>
          </a:xfrm>
          <a:prstGeom prst="rect">
            <a:avLst/>
          </a:prstGeom>
          <a:solidFill>
            <a:srgbClr val="0C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57200" y="1609344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97280" y="1316736"/>
            <a:ext cx="36576" cy="90525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234440" y="1408176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AI-Driven Architecture Generation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34440" y="1773936"/>
            <a:ext cx="10332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BuildWise leverages GPT-4.1 to produce complete, rationale-backed architecture proposals from plain-text requirements, surpassing any manual design workflow.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2340864"/>
            <a:ext cx="11274552" cy="905256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57200" y="2340864"/>
            <a:ext cx="640080" cy="905256"/>
          </a:xfrm>
          <a:prstGeom prst="rect">
            <a:avLst/>
          </a:prstGeom>
          <a:solidFill>
            <a:srgbClr val="0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7200" y="2633472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97280" y="2340864"/>
            <a:ext cx="36576" cy="90525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234440" y="2432304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Structured Student Learning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34440" y="2798064"/>
            <a:ext cx="10332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The 7-step Student Mode guides beginners from requirements to a scored, explained architecture, bridging the gap between software theory and practical design.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3364992"/>
            <a:ext cx="11274552" cy="905256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57200" y="3364992"/>
            <a:ext cx="640080" cy="905256"/>
          </a:xfrm>
          <a:prstGeom prst="rect">
            <a:avLst/>
          </a:prstGeom>
          <a:solidFill>
            <a:srgbClr val="1E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57200" y="365760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B5CF6"/>
                </a:solidFill>
              </a:rPr>
              <a:t>03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97280" y="3364992"/>
            <a:ext cx="36576" cy="90525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234440" y="3456432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Real-Time Educator Visibility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34440" y="3822191"/>
            <a:ext cx="10332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The admin dashboard provides educators with comprehensive insight into student progress, AI usage, and quality scores, enabling evidence-based formative feedback.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" y="4389120"/>
            <a:ext cx="11274552" cy="905256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57200" y="4389120"/>
            <a:ext cx="640080" cy="905256"/>
          </a:xfrm>
          <a:prstGeom prst="rect">
            <a:avLst/>
          </a:prstGeom>
          <a:solidFill>
            <a:srgbClr val="03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57200" y="4681728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04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97280" y="4389120"/>
            <a:ext cx="36576" cy="9052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234440" y="4480560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Hybrid AI Reliability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34440" y="4846320"/>
            <a:ext cx="10332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Deterministic rule-based scoring combined with LLM explanations delivers both technical correctness and meaningful conceptual learning in a single workflow.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57200" y="5413248"/>
            <a:ext cx="11274552" cy="905256"/>
          </a:xfrm>
          <a:prstGeom prst="rect">
            <a:avLst/>
          </a:prstGeom>
          <a:solidFill>
            <a:srgbClr val="0F1937"/>
          </a:solidFill>
          <a:ln w="762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57200" y="5413248"/>
            <a:ext cx="640080" cy="905256"/>
          </a:xfrm>
          <a:prstGeom prst="rect">
            <a:avLst/>
          </a:prstGeom>
          <a:solidFill>
            <a:srgbClr val="352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57200" y="5705856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05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97280" y="5413248"/>
            <a:ext cx="36576" cy="9052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234440" y="5504688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Production-Grade Serverless Deployment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34440" y="5870448"/>
            <a:ext cx="10332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Deployed on Vercel with MongoDB Atlas, BuildWise demonstrates a real-world, scalable, serverless architecture capable of handling simultaneous student sessions.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02920" y="201168"/>
            <a:ext cx="960120" cy="256032"/>
          </a:xfrm>
          <a:prstGeom prst="rect">
            <a:avLst/>
          </a:prstGeom>
          <a:solidFill>
            <a:srgbClr val="0C1C36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" y="2286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206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</a:rPr>
              <a:t>Bibliography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11521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References &amp; Resources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02920" y="1444752"/>
            <a:ext cx="11686032" cy="2743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F1937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57200" y="1572768"/>
            <a:ext cx="11274552" cy="621792"/>
          </a:xfrm>
          <a:prstGeom prst="rect">
            <a:avLst/>
          </a:prstGeom>
          <a:solidFill>
            <a:srgbClr val="0B122A"/>
          </a:solidFill>
          <a:ln w="381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57200" y="1572768"/>
            <a:ext cx="36576" cy="6217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94360" y="166420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[01]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61872" y="16642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</a:rPr>
              <a:t>Vaswani, A. et al. (2017)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61872" y="19202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Attention Is All You Need. Advances in Neural Information Processing Systems (NeurIPS).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2249424"/>
            <a:ext cx="11274552" cy="621792"/>
          </a:xfrm>
          <a:prstGeom prst="rect">
            <a:avLst/>
          </a:prstGeom>
          <a:solidFill>
            <a:srgbClr val="0F1937"/>
          </a:solidFill>
          <a:ln w="381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57200" y="2249424"/>
            <a:ext cx="36576" cy="6217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94360" y="23408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[02]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61872" y="23408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</a:rPr>
              <a:t>OpenAI (2024)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61872" y="259689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GPT-4 Technical Report. OpenAI Research.  openai.com/research/gpt-4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2926080"/>
            <a:ext cx="11274552" cy="621792"/>
          </a:xfrm>
          <a:prstGeom prst="rect">
            <a:avLst/>
          </a:prstGeom>
          <a:solidFill>
            <a:srgbClr val="0B122A"/>
          </a:solidFill>
          <a:ln w="381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57200" y="2926080"/>
            <a:ext cx="36576" cy="6217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94360" y="30175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[03]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61872" y="30175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</a:rPr>
              <a:t>Brown, T. et al. (2020)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61872" y="327355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Language Models are Few-Shot Learners. NeurIPS 2020.  arxiv.org/abs/2005.14165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3602736"/>
            <a:ext cx="11274552" cy="621792"/>
          </a:xfrm>
          <a:prstGeom prst="rect">
            <a:avLst/>
          </a:prstGeom>
          <a:solidFill>
            <a:srgbClr val="0F1937"/>
          </a:solidFill>
          <a:ln w="381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57200" y="3602736"/>
            <a:ext cx="36576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94360" y="369417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[04]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61872" y="36941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</a:rPr>
              <a:t>Devlin, J. et al. (2018)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61872" y="39502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BERT: Pre-training of Deep Bidirectional Transformers.  arxiv.org/abs/1810.04805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7200" y="4279392"/>
            <a:ext cx="11274552" cy="621792"/>
          </a:xfrm>
          <a:prstGeom prst="rect">
            <a:avLst/>
          </a:prstGeom>
          <a:solidFill>
            <a:srgbClr val="0B122A"/>
          </a:solidFill>
          <a:ln w="381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36576" cy="6217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94360" y="4370831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</a:rPr>
              <a:t>[05]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61872" y="437083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</a:rPr>
              <a:t>Vercel / Next.js (2024)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261872" y="462686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Next.js 15 Official Documentation.  nextjs.org/docs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" y="4956048"/>
            <a:ext cx="11274552" cy="621792"/>
          </a:xfrm>
          <a:prstGeom prst="rect">
            <a:avLst/>
          </a:prstGeom>
          <a:solidFill>
            <a:srgbClr val="0F1937"/>
          </a:solidFill>
          <a:ln w="381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57200" y="4956048"/>
            <a:ext cx="36576" cy="6217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94360" y="504748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[06]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61872" y="50474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</a:rPr>
              <a:t>MongoDB Inc. (2024)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261872" y="530352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MongoDB 6 Documentation &amp; Mongoose ORM Guide.  mongodb.com/docs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57200" y="5632704"/>
            <a:ext cx="11274552" cy="621792"/>
          </a:xfrm>
          <a:prstGeom prst="rect">
            <a:avLst/>
          </a:prstGeom>
          <a:solidFill>
            <a:srgbClr val="0B122A"/>
          </a:solidFill>
          <a:ln w="381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57200" y="5632704"/>
            <a:ext cx="36576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94360" y="572414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[07]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61872" y="57241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</a:rPr>
              <a:t>Tailwind CSS (2024)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261872" y="598017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Tailwind CSS v3 Official Documentation.  tailwindcss.com/docs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57200" y="6309360"/>
            <a:ext cx="11274552" cy="621792"/>
          </a:xfrm>
          <a:prstGeom prst="rect">
            <a:avLst/>
          </a:prstGeom>
          <a:solidFill>
            <a:srgbClr val="0F1937"/>
          </a:solidFill>
          <a:ln w="381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57200" y="6309360"/>
            <a:ext cx="36576" cy="6217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94360" y="640080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[08]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61872" y="64008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</a:rPr>
              <a:t>Meta Open Source (2024)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665683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React 19 Official Documentation.  react.dev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57200" y="6986016"/>
            <a:ext cx="11274552" cy="621792"/>
          </a:xfrm>
          <a:prstGeom prst="rect">
            <a:avLst/>
          </a:prstGeom>
          <a:solidFill>
            <a:srgbClr val="0B122A"/>
          </a:solidFill>
          <a:ln w="381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57200" y="6986016"/>
            <a:ext cx="36576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94360" y="707745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[09]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70774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</a:rPr>
              <a:t>Vercel Inc. (2024)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61872" y="73334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Vercel Platform &amp; Serverless Edge Functions.  vercel.com/docs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80D1F"/>
              </a:gs>
              <a:gs pos="100000">
                <a:srgbClr val="0B122A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0" y="0"/>
            <a:ext cx="12188952" cy="5029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0" y="6807708"/>
            <a:ext cx="12188952" cy="50292"/>
          </a:xfrm>
          <a:prstGeom prst="rect">
            <a:avLst/>
          </a:prstGeom>
          <a:gradFill>
            <a:gsLst>
              <a:gs pos="0">
                <a:srgbClr val="06B6D4"/>
              </a:gs>
              <a:gs pos="100000">
                <a:srgbClr val="1D4ED8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458968" y="1188720"/>
            <a:ext cx="1261872" cy="1261872"/>
          </a:xfrm>
          <a:prstGeom prst="rect">
            <a:avLst/>
          </a:prstGeom>
          <a:solidFill>
            <a:srgbClr val="0F193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5458968" y="1188720"/>
            <a:ext cx="1261872" cy="1261872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71336"/>
              </a:gs>
            </a:gsLst>
            <a:lin ang="81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5458968" y="1261872"/>
            <a:ext cx="12618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</a:rPr>
              <a:t>BW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0" y="2651760"/>
            <a:ext cx="1218895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8FAFC"/>
                </a:solidFill>
              </a:rPr>
              <a:t>Thank  You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4572000" y="4096512"/>
            <a:ext cx="3044952" cy="59436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0" y="4251960"/>
            <a:ext cx="12188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BD5E1"/>
                </a:solidFill>
              </a:rPr>
              <a:t>BuildWise  —  AI-Powered Software Architecture Design Platform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0" y="4681728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Computer Science &amp; Engineering   |   Final Year Project   |   2025-26</a:t>
            </a:r>
          </a:p>
        </p:txBody>
      </p:sp>
      <p:sp>
        <p:nvSpPr>
          <p:cNvPr id="99" name="g"/>
          <p:cNvSpPr>
            <a:spLocks noGrp="1"/>
          </p:cNvSpPr>
          <p:nvPr/>
        </p:nvSpPr>
        <p:spPr>
          <a:xfrm>
            <a:off x="3657600" y="5120640"/>
            <a:ext cx="4873752" cy="36576"/>
          </a:xfrm>
          <a:prstGeom prst="rect">
            <a:avLst/>
          </a:prstGeom>
          <a:gradFill>
            <a:gsLst>
              <a:gs pos="0">
                <a:srgbClr val="06B6D4"/>
              </a:gs>
              <a:gs pos="100000">
                <a:srgbClr val="3B82F6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0" y="5303520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</a:rPr>
              <a:t>Questions  &amp;  Discussion  Welcome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907792" y="5907024"/>
            <a:ext cx="1115568" cy="246888"/>
          </a:xfrm>
          <a:prstGeom prst="rect">
            <a:avLst/>
          </a:prstGeom>
          <a:solidFill>
            <a:srgbClr val="0A172C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980944" y="5925312"/>
            <a:ext cx="1024127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</a:rPr>
              <a:t>Next.js 15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297680" y="5907024"/>
            <a:ext cx="863193" cy="246888"/>
          </a:xfrm>
          <a:prstGeom prst="rect">
            <a:avLst/>
          </a:prstGeom>
          <a:solidFill>
            <a:srgbClr val="19102C"/>
          </a:solidFill>
          <a:ln w="76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70832" y="5925312"/>
            <a:ext cx="771753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</a:rPr>
              <a:t>GPT-4.1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87568" y="5907024"/>
            <a:ext cx="863193" cy="246888"/>
          </a:xfrm>
          <a:prstGeom prst="rect">
            <a:avLst/>
          </a:prstGeom>
          <a:solidFill>
            <a:srgbClr val="022117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760720" y="5925312"/>
            <a:ext cx="771753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MongoDB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077456" y="5907024"/>
            <a:ext cx="779068" cy="246888"/>
          </a:xfrm>
          <a:prstGeom prst="rect">
            <a:avLst/>
          </a:prstGeom>
          <a:solidFill>
            <a:srgbClr val="012026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50608" y="5925312"/>
            <a:ext cx="6876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B6D4"/>
                </a:solidFill>
              </a:rPr>
              <a:t>Vercel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467344" y="5907024"/>
            <a:ext cx="1115568" cy="246888"/>
          </a:xfrm>
          <a:prstGeom prst="rect">
            <a:avLst/>
          </a:prstGeom>
          <a:solidFill>
            <a:srgbClr val="2C1C01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540496" y="5925312"/>
            <a:ext cx="1024127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TypeScript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292840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